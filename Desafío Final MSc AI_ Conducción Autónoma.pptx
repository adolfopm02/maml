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Urbanis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8FFC80-332D-4FA4-9F5B-3B08FC9B158F}">
  <a:tblStyle styleId="{6D8FFC80-332D-4FA4-9F5B-3B08FC9B158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regular.fntdata"/><Relationship Id="rId11" Type="http://schemas.openxmlformats.org/officeDocument/2006/relationships/slide" Target="slides/slide5.xml"/><Relationship Id="rId22" Type="http://schemas.openxmlformats.org/officeDocument/2006/relationships/font" Target="fonts/Urbanist-italic.fntdata"/><Relationship Id="rId10" Type="http://schemas.openxmlformats.org/officeDocument/2006/relationships/slide" Target="slides/slide4.xml"/><Relationship Id="rId21" Type="http://schemas.openxmlformats.org/officeDocument/2006/relationships/font" Target="fonts/Urbanist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Urbanis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9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17.png"/><Relationship Id="rId7" Type="http://schemas.openxmlformats.org/officeDocument/2006/relationships/image" Target="../media/image12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37.png"/><Relationship Id="rId5" Type="http://schemas.openxmlformats.org/officeDocument/2006/relationships/image" Target="../media/image4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38.png"/><Relationship Id="rId9" Type="http://schemas.openxmlformats.org/officeDocument/2006/relationships/image" Target="../media/image35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Relationship Id="rId7" Type="http://schemas.openxmlformats.org/officeDocument/2006/relationships/image" Target="../media/image30.png"/><Relationship Id="rId8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36.png"/><Relationship Id="rId7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39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40.png"/><Relationship Id="rId5" Type="http://schemas.openxmlformats.org/officeDocument/2006/relationships/image" Target="../media/image44.png"/><Relationship Id="rId6" Type="http://schemas.openxmlformats.org/officeDocument/2006/relationships/image" Target="../media/image41.png"/><Relationship Id="rId7" Type="http://schemas.openxmlformats.org/officeDocument/2006/relationships/image" Target="../media/image43.png"/><Relationship Id="rId8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20490" y="1800225"/>
            <a:ext cx="8151018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Conducción </a:t>
            </a:r>
            <a:r>
              <a:rPr b="1" i="0" lang="en-US" sz="60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Autónoma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291012" y="3095625"/>
            <a:ext cx="36099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DESAFÍO FINAL MÁSTER IA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3876675"/>
            <a:ext cx="9525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762250" y="4391025"/>
            <a:ext cx="66675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Entrenamiento de agentes inteligentes en entornos 3D mediante Aprendizaje por Refuerzo profundo (Deep RL).</a:t>
            </a:r>
            <a:endParaRPr b="0" i="0" sz="1500" u="none" cap="none" strike="noStrike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Este documento tiene un propósito meramente informativo; el documento oficial de confianza y de referencia es el notebook 'Challenge RL'.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04950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Visión General del Reto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169545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Este proyecto final evalúa la capacidad de integrar </a:t>
            </a: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Visión Artificial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RL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para resolver un problema de ingeniería real.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514475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42975" y="2419350"/>
            <a:ext cx="49625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Fase 1: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Q-Learning Tabular desde cero.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71550" y="2895600"/>
            <a:ext cx="4933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Fase 2: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Baselines DQN y PPO.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42975" y="3371850"/>
            <a:ext cx="49625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Fase 3: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Desarrollo de Algoritmo Avanzado.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42975" y="3848100"/>
            <a:ext cx="49625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Generalización: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Prueba en mapa oculto.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4384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91465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3909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86715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66950"/>
            <a:ext cx="11049000" cy="591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39690"/>
            <a:ext cx="355595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7950" y="3239690"/>
            <a:ext cx="355595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4400" y="3239690"/>
            <a:ext cx="3556099" cy="200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Fase 1: Fundamentos de Q-Learning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16954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Antes del Deep RL, debéis implementar el algoritmo base en un entorno discreto simulado (FrozenLake-v1).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457450"/>
            <a:ext cx="10668000" cy="21074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866775" y="3534965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Implementación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66775" y="4001690"/>
            <a:ext cx="2965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Sin librerías externas. Tabla Q de 64x4 inicializada en ceros.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613225" y="3534965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Exploración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613225" y="4001690"/>
            <a:ext cx="2965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Implementar política epsilon-greedy con decaimiento progresivo.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359675" y="3534965"/>
            <a:ext cx="311382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Resultado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359675" y="4001690"/>
            <a:ext cx="29655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Gráfico de media móvil de recompensa sobre 10,000 episodios.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04950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Fase 2: Baselines DQN y PPO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1504950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1. DQN (Deep Q-Network)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1914525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Requiere discretizar el espacio de acción de Duckietown mediante un Wrapper de Gymnasium.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258127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2. PPO (Proximal Policy Optimization)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299085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Algoritmo de gradiente de política para manejo de acciones continuas y estabilidad superior.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514475"/>
            <a:ext cx="5314950" cy="3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6450"/>
            <a:ext cx="355595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076450"/>
            <a:ext cx="355595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076450"/>
            <a:ext cx="3556099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Fase 3: Algoritmo Avanzado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16954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Libertad creativa: Desarrollad un tercer algoritmo que supere los baselines anteriores.</a:t>
            </a:r>
            <a:endParaRPr/>
          </a:p>
        </p:txBody>
      </p:sp>
      <p:pic>
        <p:nvPicPr>
          <p:cNvPr descr="image.png" id="150" name="Google Shape;15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3717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866775" y="2819400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Opciones Sugeridas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66775" y="3286125"/>
            <a:ext cx="2965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SAC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(Soft Actor-Critic), </a:t>
            </a: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TD3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(Twin Delayed DDPG) o </a:t>
            </a: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A2C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optimizado.</a:t>
            </a:r>
            <a:endParaRPr/>
          </a:p>
        </p:txBody>
      </p:sp>
      <p:pic>
        <p:nvPicPr>
          <p:cNvPr descr="image.png" id="153" name="Google Shape;15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23717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4613225" y="2819400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Experimentación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4613225" y="3286125"/>
            <a:ext cx="2965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Podéis modificar arquitecturas CNN o implementar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Curriculum Learning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entre mapas.</a:t>
            </a:r>
            <a:endParaRPr/>
          </a:p>
        </p:txBody>
      </p:sp>
      <p:pic>
        <p:nvPicPr>
          <p:cNvPr descr="image.png" id="156" name="Google Shape;15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3717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8359675" y="2819400"/>
            <a:ext cx="311382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Justificación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359675" y="3286125"/>
            <a:ext cx="29655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Deberéis argumentar en el informe por qué este algoritmo es superior para la conducción.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762000" y="1647825"/>
            <a:ext cx="50006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Duckietown Simulator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71500" y="1647825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277177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Entorno 3D de alta fidelidad basado en OpenGL que simula la visión real de un robot.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971550" y="3629025"/>
            <a:ext cx="4552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Observación: Cámara RGB frontal.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942975" y="4105275"/>
            <a:ext cx="45815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Control: Velocidad y ángulo de giro.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71550" y="4581525"/>
            <a:ext cx="4552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Desafío: Seguimiento de carril sin salirse.</a:t>
            </a:r>
            <a:endParaRPr/>
          </a:p>
        </p:txBody>
      </p:sp>
      <p:pic>
        <p:nvPicPr>
          <p:cNvPr descr="image.png" id="171" name="Google Shape;17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4807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243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600575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6450"/>
            <a:ext cx="5334000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76450"/>
            <a:ext cx="5334000" cy="34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Generalización en 6 Mapas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571500" y="16954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éxito se mide por la capacidad de navegar en entornos desconocidos.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866775" y="2371725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Entrenamiento (5 Mapas)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866775" y="2838450"/>
            <a:ext cx="4743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Exposición a curvas cerradas, rectas largas y zig-zags: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581775" y="2371725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Evaluación Final (1 Mapa)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581775" y="2838450"/>
            <a:ext cx="4743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Mapa </a:t>
            </a: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Duckietown-loop_obstacles-v0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581775" y="3314700"/>
            <a:ext cx="4743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Incluye obstáculos estáticos. Entrenar en este mapa supone la descalificación inmediata del reto.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1209675" y="32766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1247775" y="3276600"/>
            <a:ext cx="4362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loop_empty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1209675" y="36576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1247775" y="3657600"/>
            <a:ext cx="4362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udem1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1209675" y="40386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1247775" y="4038600"/>
            <a:ext cx="4362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zigzag_dists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1209675" y="44196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1247775" y="4419600"/>
            <a:ext cx="4362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small_loop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1209675" y="48006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1247775" y="4800600"/>
            <a:ext cx="4362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straight_road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Procesamiento de Imágenes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7" name="Google Shape;20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514475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6286500" y="1504950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Pipeline de Visión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657975" y="1876425"/>
            <a:ext cx="49625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Recorte: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Eliminar el 50% superior (cielo).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6657975" y="2352675"/>
            <a:ext cx="49625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Grayscale: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Conversión a escala de grises.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629400" y="2828925"/>
            <a:ext cx="4991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Redimensión: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64x64 píxeles para eficiencia.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629400" y="3305175"/>
            <a:ext cx="4991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Stacking: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Apilado de 4 frames (percepción de movimiento).</a:t>
            </a:r>
            <a:endParaRPr/>
          </a:p>
        </p:txBody>
      </p:sp>
      <p:pic>
        <p:nvPicPr>
          <p:cNvPr descr="image.png" id="213" name="Google Shape;21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8954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23717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28479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86500" y="3467100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Requisitos de Entrega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4" name="Google Shape;224;p21"/>
          <p:cNvGraphicFramePr/>
          <p:nvPr/>
        </p:nvGraphicFramePr>
        <p:xfrm>
          <a:off x="571500" y="1695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{6D8FFC80-332D-4FA4-9F5B-3B08FC9B158F}</a:tableStyleId>
              </a:tblPr>
              <a:tblGrid>
                <a:gridCol w="3515475"/>
                <a:gridCol w="7533525"/>
              </a:tblGrid>
              <a:tr h="5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Archivo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Descripción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</a:tr>
              <a:tr h="5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requirements.txt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Dependencias con versiones exactas (==).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q_learning_sandbox.py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Fase 1 completa (Código y gráfico).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train.py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Pipeline de entrenamiento para DQN, PPO y Algoritmo 3.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best_agent.zip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Vuestro mejor modelo entrenado (Fase 2 o 3).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Report.pdf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Comparativa de los </a:t>
                      </a:r>
                      <a:r>
                        <a:rPr b="1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 algoritmos</a:t>
                      </a: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y justificación técnica.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5" name="Google Shape;225;p21"/>
          <p:cNvSpPr/>
          <p:nvPr/>
        </p:nvSpPr>
        <p:spPr>
          <a:xfrm>
            <a:off x="571500" y="2681287"/>
            <a:ext cx="351546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4086969" y="2681287"/>
            <a:ext cx="753353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571500" y="3186112"/>
            <a:ext cx="351546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4086969" y="3186112"/>
            <a:ext cx="753353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571500" y="3690937"/>
            <a:ext cx="351546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4086969" y="3690937"/>
            <a:ext cx="753353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571500" y="4195762"/>
            <a:ext cx="351546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4086969" y="4195762"/>
            <a:ext cx="753353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571500" y="4700587"/>
            <a:ext cx="351546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4086969" y="4700587"/>
            <a:ext cx="753353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95450"/>
            <a:ext cx="110490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47950"/>
            <a:ext cx="355595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7950" y="2647950"/>
            <a:ext cx="355595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4400" y="2647950"/>
            <a:ext cx="3556099" cy="200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El Contrato de Evaluación</a:t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800100" y="1885950"/>
            <a:ext cx="106299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REGLA DE ORO:</a:t>
            </a:r>
            <a:r>
              <a:rPr b="0" i="0" lang="en-US" sz="1500" u="none" cap="none" strike="noStrike">
                <a:solidFill>
                  <a:srgbClr val="FCA5A5"/>
                </a:solidFill>
                <a:latin typeface="Urbanist"/>
                <a:ea typeface="Urbanist"/>
                <a:cs typeface="Urbanist"/>
                <a:sym typeface="Urbanist"/>
              </a:rPr>
              <a:t> Si el código no carga a la primera en un entorno limpio, la calificación es 0.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866775" y="2943225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Formato Input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866775" y="3409950"/>
            <a:ext cx="2965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modelo DEBE esperar observaciones de dimensi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on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(1, 64, 64).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4613225" y="2943225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Clases en eval.ipynb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4613225" y="3409950"/>
            <a:ext cx="2965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Debe incluir las definiciones de CNN y Wrappers para evitar errores de carga.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8359675" y="2943225"/>
            <a:ext cx="311382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Prueba Dry-Run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8359675" y="3409950"/>
            <a:ext cx="29655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Probad vuestro ZIP en un Colab nuevo antes de subirlo.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76450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Métricas y Ranking</a:t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571500" y="16954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 calificación final se basa en la robustez del agente en el mapa oculto.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571500" y="2076450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Criterios</a:t>
            </a:r>
            <a:endParaRPr/>
          </a:p>
        </p:txBody>
      </p:sp>
      <p:pic>
        <p:nvPicPr>
          <p:cNvPr descr="image.png" id="263" name="Google Shape;26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085975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942975" y="2447925"/>
            <a:ext cx="4962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Recompensa Acumulada Media.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1000125" y="2924175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Calidad del código y Wrappers.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885825" y="3400425"/>
            <a:ext cx="5019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Informe y comparativa de algoritmos.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914400" y="3876675"/>
            <a:ext cx="4991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Exploracón y comprensión de los modelos usado</a:t>
            </a:r>
            <a:endParaRPr/>
          </a:p>
        </p:txBody>
      </p:sp>
      <p:pic>
        <p:nvPicPr>
          <p:cNvPr descr="image.png" id="268" name="Google Shape;26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4669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94322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419475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895725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295275" y="1819275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¿Preguntas?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571500" y="307657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desafío comienza ahora.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571500" y="41814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Soporte técnico: campus_virtual@msc-ai.edu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571500" y="46577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Fecha límite: 15 de Junio, 23:59h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87" name="Google Shape;287;p25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571500" y="15049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571500" y="22764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571500" y="30480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571500" y="38195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571500" y="22669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571500" y="22669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571500" y="30384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571500" y="30384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571500" y="38100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571500" y="38100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571500" y="45815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571500" y="45815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0" name="Google Shape;30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478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5"/>
          <p:cNvSpPr txBox="1"/>
          <p:nvPr/>
        </p:nvSpPr>
        <p:spPr>
          <a:xfrm>
            <a:off x="1666875" y="165496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https://docs.duckietown.com/daffy/devmanual-software/_images/finalmain.gif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1666875" y="188833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docs.duckietown.com</a:t>
            </a:r>
            <a:endParaRPr/>
          </a:p>
        </p:txBody>
      </p:sp>
      <p:pic>
        <p:nvPicPr>
          <p:cNvPr descr="image.png" id="303" name="Google Shape;30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193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5"/>
          <p:cNvSpPr txBox="1"/>
          <p:nvPr/>
        </p:nvSpPr>
        <p:spPr>
          <a:xfrm>
            <a:off x="1666875" y="24264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https://www.reinforcementlearningpath.com/wp-content/uploads/2025/11/learning_rate_reward_curves-1-1024x337.png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1666875" y="26598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www.reinforcementlearningpath.com</a:t>
            </a:r>
            <a:endParaRPr/>
          </a:p>
        </p:txBody>
      </p:sp>
      <p:pic>
        <p:nvPicPr>
          <p:cNvPr descr="image.png" id="306" name="Google Shape;30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908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5"/>
          <p:cNvSpPr txBox="1"/>
          <p:nvPr/>
        </p:nvSpPr>
        <p:spPr>
          <a:xfrm>
            <a:off x="1666875" y="31980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https://duckietown.com/wp-content/uploads/2021/07/image-5-1024x767.png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1666875" y="34313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duckietown.com</a:t>
            </a:r>
            <a:endParaRPr/>
          </a:p>
        </p:txBody>
      </p:sp>
      <p:pic>
        <p:nvPicPr>
          <p:cNvPr descr="image.png" id="309" name="Google Shape;30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9624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5"/>
          <p:cNvSpPr txBox="1"/>
          <p:nvPr/>
        </p:nvSpPr>
        <p:spPr>
          <a:xfrm>
            <a:off x="1666875" y="39695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https://www.innominds.com/hubfs/Innominds-201612/img/IM%20News%20and%20Blogs/Flow_info.png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1666875" y="42029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www.innominds.com</a:t>
            </a:r>
            <a:endParaRPr/>
          </a:p>
        </p:txBody>
      </p:sp>
      <p:pic>
        <p:nvPicPr>
          <p:cNvPr descr="image.png" id="312" name="Google Shape;312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7339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5"/>
          <p:cNvSpPr txBox="1"/>
          <p:nvPr/>
        </p:nvSpPr>
        <p:spPr>
          <a:xfrm>
            <a:off x="1666875" y="474106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https://framerusercontent.com/images/oZZ7hq9Zi6LN1bF47fWRgrltPM0.png?width=1536&amp;height=768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1666875" y="497443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consensus.app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